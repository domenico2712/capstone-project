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626282-83BE-4B14-AA1D-E9A716F8FEB8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23FCBA3-AE69-44D9-84A9-153F3F9E2987}" type="datetime1">
              <a:rPr lang="it-IT" smtClean="0"/>
              <a:t>05/07/2026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gli stili del testo dello schema</a:t>
            </a:r>
            <a:endParaRPr lang="en-US"/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76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2AEA12-A884-495F-8D96-E2791E451670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7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1B965-D21F-4083-9FDC-4C0868AFCE6A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F263AC-6BFA-4530-A45D-98F6CD76B995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5EEB9B-9A76-4838-83B5-EFB83BC3FC95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788151-CB43-4FD7-A3FA-96D82E7273D6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84158B-E18A-4760-AF0B-F8E1F54F95E6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" dirty="0"/>
              <a:t>Fare clic per modificare gli stili del 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F4D0FD0-762A-4E00-B40D-E1022DE9149C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14666673-06EC-44D2-AEC3-E4C57BDDC5B7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574AD5-D417-4FAA-8969-2C3D2D990862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234F22-96F1-43C5-9A84-5011A5FFAE38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"/>
              <a:t>Fare clic per modificare gli stili del testo dello schema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F117DD88-DA0B-42BB-B7E2-325641850C3A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tango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it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Accidents Across Italian Municipalities (2001-2024)</a:t>
            </a:r>
          </a:p>
        </p:txBody>
      </p:sp>
      <p:pic>
        <p:nvPicPr>
          <p:cNvPr id="5" name="Immagine 4" descr="Immagine con edificio, sedia, panca, lato&#10;&#10;Descrizione generat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DA5DC3-CD29-0DF5-DBC2-B5C40D79E158}"/>
              </a:ext>
            </a:extLst>
          </p:cNvPr>
          <p:cNvSpPr txBox="1"/>
          <p:nvPr/>
        </p:nvSpPr>
        <p:spPr>
          <a:xfrm>
            <a:off x="5427754" y="4728915"/>
            <a:ext cx="55401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Domenico Spano</a:t>
            </a:r>
            <a:br>
              <a:rPr lang="it-IT" dirty="0"/>
            </a:br>
            <a:br>
              <a:rPr lang="it-IT" dirty="0"/>
            </a:br>
            <a:r>
              <a:rPr lang="it-IT" dirty="0"/>
              <a:t>Master in Data Analytics</a:t>
            </a:r>
          </a:p>
          <a:p>
            <a:endParaRPr lang="it-IT" dirty="0"/>
          </a:p>
          <a:p>
            <a:r>
              <a:rPr lang="it-IT" dirty="0" err="1"/>
              <a:t>Capstone</a:t>
            </a:r>
            <a:r>
              <a:rPr lang="it-IT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4A989-1735-936D-442A-C3F4A9AE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4CD05F-BC0B-68A6-6206-F4EB1733A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182" y="2481426"/>
            <a:ext cx="10058400" cy="37608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</a:t>
            </a:r>
            <a:r>
              <a:rPr lang="it-IT" sz="2000" dirty="0" err="1"/>
              <a:t>Analyze</a:t>
            </a:r>
            <a:r>
              <a:rPr lang="it-IT" sz="2000" dirty="0"/>
              <a:t> the </a:t>
            </a:r>
            <a:r>
              <a:rPr lang="it-IT" sz="2000" dirty="0" err="1"/>
              <a:t>evolution</a:t>
            </a:r>
            <a:r>
              <a:rPr lang="it-IT" sz="2000" dirty="0"/>
              <a:t> of road </a:t>
            </a:r>
            <a:r>
              <a:rPr lang="it-IT" sz="2000" dirty="0" err="1"/>
              <a:t>accidents</a:t>
            </a:r>
            <a:r>
              <a:rPr lang="it-IT" sz="2000" dirty="0"/>
              <a:t> in </a:t>
            </a:r>
            <a:r>
              <a:rPr lang="it-IT" sz="2000" dirty="0" err="1"/>
              <a:t>italian</a:t>
            </a:r>
            <a:r>
              <a:rPr lang="it-IT" sz="2000" dirty="0"/>
              <a:t> </a:t>
            </a:r>
            <a:r>
              <a:rPr lang="it-IT" sz="2000" dirty="0" err="1"/>
              <a:t>municipalities</a:t>
            </a:r>
            <a:endParaRPr lang="it-IT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Compare </a:t>
            </a:r>
            <a:r>
              <a:rPr lang="it-IT" sz="2000" dirty="0" err="1"/>
              <a:t>municipalities</a:t>
            </a:r>
            <a:r>
              <a:rPr lang="it-IT" sz="2000" dirty="0"/>
              <a:t> </a:t>
            </a:r>
            <a:r>
              <a:rPr lang="it-IT" sz="2000" dirty="0" err="1"/>
              <a:t>using</a:t>
            </a:r>
            <a:r>
              <a:rPr lang="it-IT" sz="2000" dirty="0"/>
              <a:t>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indicators</a:t>
            </a:r>
            <a:endParaRPr lang="it-IT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 </a:t>
            </a:r>
            <a:r>
              <a:rPr lang="it-IT" sz="2000" dirty="0" err="1"/>
              <a:t>Identiy</a:t>
            </a:r>
            <a:r>
              <a:rPr lang="it-IT" sz="2000" dirty="0"/>
              <a:t> </a:t>
            </a:r>
            <a:r>
              <a:rPr lang="it-IT" sz="2000" dirty="0" err="1"/>
              <a:t>municipalities</a:t>
            </a:r>
            <a:r>
              <a:rPr lang="it-IT" sz="2000" dirty="0"/>
              <a:t> with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accident</a:t>
            </a:r>
            <a:r>
              <a:rPr lang="it-IT" sz="2000" dirty="0"/>
              <a:t> </a:t>
            </a:r>
            <a:r>
              <a:rPr lang="it-IT" sz="2000" dirty="0" err="1"/>
              <a:t>concentration</a:t>
            </a:r>
            <a:r>
              <a:rPr lang="it-IT" sz="2000" dirty="0"/>
              <a:t> </a:t>
            </a:r>
            <a:r>
              <a:rPr lang="it-IT" sz="2000" dirty="0" err="1"/>
              <a:t>profiles</a:t>
            </a:r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18152C-E4D8-CBF9-EB4C-40149DB0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51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22D3068A-6509-5F59-39AB-E2B1D32DE720}"/>
              </a:ext>
            </a:extLst>
          </p:cNvPr>
          <p:cNvCxnSpPr>
            <a:cxnSpLocks/>
          </p:cNvCxnSpPr>
          <p:nvPr/>
        </p:nvCxnSpPr>
        <p:spPr>
          <a:xfrm flipV="1">
            <a:off x="3032683" y="4090730"/>
            <a:ext cx="485890" cy="350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ABD1513-54F2-3DA5-84A9-96DA514ABE22}"/>
              </a:ext>
            </a:extLst>
          </p:cNvPr>
          <p:cNvCxnSpPr>
            <a:cxnSpLocks/>
          </p:cNvCxnSpPr>
          <p:nvPr/>
        </p:nvCxnSpPr>
        <p:spPr>
          <a:xfrm>
            <a:off x="3032683" y="2999102"/>
            <a:ext cx="485890" cy="374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A12B19E4-4C76-4437-1F82-A5DB91E4C36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816185" y="3745531"/>
            <a:ext cx="789524" cy="22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D1E42DC5-BF51-E9E9-6E32-386D7E4B934D}"/>
              </a:ext>
            </a:extLst>
          </p:cNvPr>
          <p:cNvCxnSpPr>
            <a:cxnSpLocks/>
          </p:cNvCxnSpPr>
          <p:nvPr/>
        </p:nvCxnSpPr>
        <p:spPr>
          <a:xfrm>
            <a:off x="5830857" y="3745531"/>
            <a:ext cx="1428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D31F809B-7C03-532A-FA38-50187914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preparation</a:t>
            </a:r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7628AC-6B99-59C5-62F8-20458062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5" name="Freccia a gallone 4">
            <a:extLst>
              <a:ext uri="{FF2B5EF4-FFF2-40B4-BE49-F238E27FC236}">
                <a16:creationId xmlns:a16="http://schemas.microsoft.com/office/drawing/2014/main" id="{A289BF9C-2D87-E50A-19C8-52172A971BC2}"/>
              </a:ext>
            </a:extLst>
          </p:cNvPr>
          <p:cNvSpPr/>
          <p:nvPr/>
        </p:nvSpPr>
        <p:spPr>
          <a:xfrm>
            <a:off x="811763" y="2410408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ISTAT</a:t>
            </a:r>
          </a:p>
        </p:txBody>
      </p:sp>
      <p:sp>
        <p:nvSpPr>
          <p:cNvPr id="7" name="Freccia a gallone 6">
            <a:extLst>
              <a:ext uri="{FF2B5EF4-FFF2-40B4-BE49-F238E27FC236}">
                <a16:creationId xmlns:a16="http://schemas.microsoft.com/office/drawing/2014/main" id="{AA975005-263B-56D0-4B51-72E89DCDCC99}"/>
              </a:ext>
            </a:extLst>
          </p:cNvPr>
          <p:cNvSpPr/>
          <p:nvPr/>
        </p:nvSpPr>
        <p:spPr>
          <a:xfrm>
            <a:off x="811763" y="4139750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SITUAS</a:t>
            </a:r>
          </a:p>
        </p:txBody>
      </p:sp>
      <p:sp>
        <p:nvSpPr>
          <p:cNvPr id="9" name="Freccia a gallone 8">
            <a:extLst>
              <a:ext uri="{FF2B5EF4-FFF2-40B4-BE49-F238E27FC236}">
                <a16:creationId xmlns:a16="http://schemas.microsoft.com/office/drawing/2014/main" id="{F16226FA-BCFF-6867-41C4-272F720C60EA}"/>
              </a:ext>
            </a:extLst>
          </p:cNvPr>
          <p:cNvSpPr/>
          <p:nvPr/>
        </p:nvSpPr>
        <p:spPr>
          <a:xfrm>
            <a:off x="3460569" y="3351313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MERGE</a:t>
            </a:r>
          </a:p>
        </p:txBody>
      </p:sp>
      <p:sp>
        <p:nvSpPr>
          <p:cNvPr id="12" name="Freccia a gallone 11">
            <a:extLst>
              <a:ext uri="{FF2B5EF4-FFF2-40B4-BE49-F238E27FC236}">
                <a16:creationId xmlns:a16="http://schemas.microsoft.com/office/drawing/2014/main" id="{58B88BDE-A3EE-C915-8E34-400E86CFA34F}"/>
              </a:ext>
            </a:extLst>
          </p:cNvPr>
          <p:cNvSpPr/>
          <p:nvPr/>
        </p:nvSpPr>
        <p:spPr>
          <a:xfrm>
            <a:off x="6480112" y="3351313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14" name="Freccia a gallone 13">
            <a:extLst>
              <a:ext uri="{FF2B5EF4-FFF2-40B4-BE49-F238E27FC236}">
                <a16:creationId xmlns:a16="http://schemas.microsoft.com/office/drawing/2014/main" id="{C9496CE6-26BC-5B41-463D-E035FEC5925A}"/>
              </a:ext>
            </a:extLst>
          </p:cNvPr>
          <p:cNvSpPr/>
          <p:nvPr/>
        </p:nvSpPr>
        <p:spPr>
          <a:xfrm>
            <a:off x="9211490" y="3373930"/>
            <a:ext cx="2435290" cy="78843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22665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CE991-9BBD-8824-5AD6-5DF30789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A70A01-B7CC-1139-3170-1CAF4CD43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</a:t>
            </a:r>
            <a:r>
              <a:rPr lang="it-IT" dirty="0"/>
              <a:t>Road Accidents Over Time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</a:t>
            </a:r>
            <a:r>
              <a:rPr lang="it-IT" dirty="0"/>
              <a:t>Top 10 </a:t>
            </a:r>
            <a:r>
              <a:rPr lang="it-IT" dirty="0" err="1"/>
              <a:t>Municipalities</a:t>
            </a:r>
            <a:r>
              <a:rPr lang="it-IT" dirty="0"/>
              <a:t> by Number of Road Accidents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Top 10 </a:t>
            </a:r>
            <a:r>
              <a:rPr lang="it-IT" dirty="0" err="1"/>
              <a:t>Municipalities</a:t>
            </a:r>
            <a:r>
              <a:rPr lang="it-IT" dirty="0"/>
              <a:t> by Road Accidents per </a:t>
            </a:r>
            <a:r>
              <a:rPr lang="it-IT" dirty="0" err="1"/>
              <a:t>Resident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Population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 vs Road Accidents per Kmq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Top 10 </a:t>
            </a:r>
            <a:r>
              <a:rPr lang="it-IT" dirty="0" err="1"/>
              <a:t>Municipalities</a:t>
            </a:r>
            <a:r>
              <a:rPr lang="it-IT" dirty="0"/>
              <a:t> by Road Accidents per Kmq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Population</a:t>
            </a:r>
            <a:r>
              <a:rPr lang="it-IT" dirty="0"/>
              <a:t> vs Road Accidents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sz="1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214961-2E2A-F417-1825-8061A5F7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53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B96BCB-5692-A90E-46FA-9E1FD7FC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31E05-4750-5A81-BAB0-1CE559DE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0760148-203E-E5E7-82C0-22072F6AC77C}"/>
              </a:ext>
            </a:extLst>
          </p:cNvPr>
          <p:cNvSpPr/>
          <p:nvPr/>
        </p:nvSpPr>
        <p:spPr>
          <a:xfrm>
            <a:off x="1203649" y="2907111"/>
            <a:ext cx="4002833" cy="11849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>
                <a:solidFill>
                  <a:schemeClr val="tx1"/>
                </a:solidFill>
              </a:rPr>
              <a:t>H0: The </a:t>
            </a:r>
            <a:r>
              <a:rPr lang="it-IT" sz="1400" dirty="0" err="1">
                <a:solidFill>
                  <a:schemeClr val="tx1"/>
                </a:solidFill>
              </a:rPr>
              <a:t>average</a:t>
            </a:r>
            <a:r>
              <a:rPr lang="it-IT" sz="1400" dirty="0">
                <a:solidFill>
                  <a:schemeClr val="tx1"/>
                </a:solidFill>
              </a:rPr>
              <a:t> road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rate per kmq </a:t>
            </a:r>
            <a:r>
              <a:rPr lang="it-IT" sz="1400" dirty="0" err="1">
                <a:solidFill>
                  <a:schemeClr val="tx1"/>
                </a:solidFill>
              </a:rPr>
              <a:t>is</a:t>
            </a:r>
            <a:r>
              <a:rPr lang="it-IT" sz="1400" dirty="0">
                <a:solidFill>
                  <a:schemeClr val="tx1"/>
                </a:solidFill>
              </a:rPr>
              <a:t> the </a:t>
            </a:r>
            <a:r>
              <a:rPr lang="it-IT" sz="1400" dirty="0" err="1">
                <a:solidFill>
                  <a:schemeClr val="tx1"/>
                </a:solidFill>
              </a:rPr>
              <a:t>same</a:t>
            </a:r>
            <a:r>
              <a:rPr lang="it-IT" sz="1400" dirty="0">
                <a:solidFill>
                  <a:schemeClr val="tx1"/>
                </a:solidFill>
              </a:rPr>
              <a:t> in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high </a:t>
            </a:r>
            <a:r>
              <a:rPr lang="it-IT" sz="1400" dirty="0" err="1">
                <a:solidFill>
                  <a:schemeClr val="tx1"/>
                </a:solidFill>
              </a:rPr>
              <a:t>population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r>
              <a:rPr lang="it-IT" sz="1400" dirty="0">
                <a:solidFill>
                  <a:schemeClr val="tx1"/>
                </a:solidFill>
              </a:rPr>
              <a:t> and in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low </a:t>
            </a:r>
            <a:r>
              <a:rPr lang="it-IT" sz="1400" dirty="0" err="1">
                <a:solidFill>
                  <a:schemeClr val="tx1"/>
                </a:solidFill>
              </a:rPr>
              <a:t>population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8C5A365-119B-51F3-0438-01E9F0FBF392}"/>
              </a:ext>
            </a:extLst>
          </p:cNvPr>
          <p:cNvSpPr/>
          <p:nvPr/>
        </p:nvSpPr>
        <p:spPr>
          <a:xfrm>
            <a:off x="6385249" y="2907111"/>
            <a:ext cx="4002833" cy="1166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>
                <a:solidFill>
                  <a:schemeClr val="tx1"/>
                </a:solidFill>
              </a:rPr>
              <a:t>H1: The </a:t>
            </a:r>
            <a:r>
              <a:rPr lang="it-IT" sz="1400" dirty="0" err="1">
                <a:solidFill>
                  <a:schemeClr val="tx1"/>
                </a:solidFill>
              </a:rPr>
              <a:t>average</a:t>
            </a:r>
            <a:r>
              <a:rPr lang="it-IT" sz="1400" dirty="0">
                <a:solidFill>
                  <a:schemeClr val="tx1"/>
                </a:solidFill>
              </a:rPr>
              <a:t> road </a:t>
            </a:r>
            <a:r>
              <a:rPr lang="it-IT" sz="1400" dirty="0" err="1">
                <a:solidFill>
                  <a:schemeClr val="tx1"/>
                </a:solidFill>
              </a:rPr>
              <a:t>accident</a:t>
            </a:r>
            <a:r>
              <a:rPr lang="it-IT" sz="1400" dirty="0">
                <a:solidFill>
                  <a:schemeClr val="tx1"/>
                </a:solidFill>
              </a:rPr>
              <a:t> rate per kmq </a:t>
            </a:r>
            <a:r>
              <a:rPr lang="it-IT" sz="1400" dirty="0" err="1">
                <a:solidFill>
                  <a:schemeClr val="tx1"/>
                </a:solidFill>
              </a:rPr>
              <a:t>is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different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between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high </a:t>
            </a:r>
            <a:r>
              <a:rPr lang="it-IT" sz="1400" dirty="0" err="1">
                <a:solidFill>
                  <a:schemeClr val="tx1"/>
                </a:solidFill>
              </a:rPr>
              <a:t>population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r>
              <a:rPr lang="it-IT" sz="1400" dirty="0">
                <a:solidFill>
                  <a:schemeClr val="tx1"/>
                </a:solidFill>
              </a:rPr>
              <a:t> and </a:t>
            </a:r>
            <a:r>
              <a:rPr lang="it-IT" sz="1400" dirty="0" err="1">
                <a:solidFill>
                  <a:schemeClr val="tx1"/>
                </a:solidFill>
              </a:rPr>
              <a:t>municipalities</a:t>
            </a:r>
            <a:r>
              <a:rPr lang="it-IT" sz="1400" dirty="0">
                <a:solidFill>
                  <a:schemeClr val="tx1"/>
                </a:solidFill>
              </a:rPr>
              <a:t> with low </a:t>
            </a:r>
            <a:r>
              <a:rPr lang="it-IT" sz="1400" dirty="0" err="1">
                <a:solidFill>
                  <a:schemeClr val="tx1"/>
                </a:solidFill>
              </a:rPr>
              <a:t>population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density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3988A8D-5DFB-A619-ED73-D6FAB6525E84}"/>
              </a:ext>
            </a:extLst>
          </p:cNvPr>
          <p:cNvSpPr/>
          <p:nvPr/>
        </p:nvSpPr>
        <p:spPr>
          <a:xfrm>
            <a:off x="5310521" y="4918477"/>
            <a:ext cx="4551938" cy="8944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H0 </a:t>
            </a:r>
            <a:r>
              <a:rPr lang="it-IT" sz="1400" dirty="0" err="1">
                <a:solidFill>
                  <a:schemeClr val="tx1"/>
                </a:solidFill>
              </a:rPr>
              <a:t>rejected</a:t>
            </a:r>
            <a:r>
              <a:rPr lang="it-IT" sz="1400" dirty="0">
                <a:solidFill>
                  <a:schemeClr val="tx1"/>
                </a:solidFill>
              </a:rPr>
              <a:t> | the </a:t>
            </a:r>
            <a:r>
              <a:rPr lang="it-IT" sz="1400" dirty="0" err="1">
                <a:solidFill>
                  <a:schemeClr val="tx1"/>
                </a:solidFill>
              </a:rPr>
              <a:t>observed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result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is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statistically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significant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02809CE4-596F-6B8F-90DC-4CEC71D64C62}"/>
              </a:ext>
            </a:extLst>
          </p:cNvPr>
          <p:cNvSpPr/>
          <p:nvPr/>
        </p:nvSpPr>
        <p:spPr>
          <a:xfrm>
            <a:off x="2071396" y="4727200"/>
            <a:ext cx="2052735" cy="12503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Rejected</a:t>
            </a:r>
            <a:endParaRPr lang="it-IT" b="1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66E39273-2FF5-60AF-76F8-CEE95EDA6122}"/>
              </a:ext>
            </a:extLst>
          </p:cNvPr>
          <p:cNvCxnSpPr>
            <a:cxnSpLocks/>
            <a:stCxn id="12" idx="6"/>
            <a:endCxn id="9" idx="1"/>
          </p:cNvCxnSpPr>
          <p:nvPr/>
        </p:nvCxnSpPr>
        <p:spPr>
          <a:xfrm>
            <a:off x="4124131" y="5352351"/>
            <a:ext cx="1186390" cy="1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45625F3-DE83-3FE7-41F4-11E3A7B0F09F}"/>
              </a:ext>
            </a:extLst>
          </p:cNvPr>
          <p:cNvSpPr txBox="1"/>
          <p:nvPr/>
        </p:nvSpPr>
        <p:spPr>
          <a:xfrm>
            <a:off x="1203649" y="1991452"/>
            <a:ext cx="9511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Do </a:t>
            </a:r>
            <a:r>
              <a:rPr lang="it-IT" dirty="0" err="1"/>
              <a:t>municipalities</a:t>
            </a:r>
            <a:r>
              <a:rPr lang="it-IT" dirty="0"/>
              <a:t> with high </a:t>
            </a:r>
            <a:r>
              <a:rPr lang="it-IT" dirty="0" err="1"/>
              <a:t>accident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dirty="0" err="1"/>
              <a:t>different</a:t>
            </a:r>
            <a:r>
              <a:rPr lang="it-IT" dirty="0"/>
              <a:t> road </a:t>
            </a:r>
            <a:r>
              <a:rPr lang="it-IT" dirty="0" err="1"/>
              <a:t>accident</a:t>
            </a:r>
            <a:r>
              <a:rPr lang="it-IT" dirty="0"/>
              <a:t> rate per kmq </a:t>
            </a:r>
            <a:r>
              <a:rPr lang="it-IT" dirty="0" err="1"/>
              <a:t>compared</a:t>
            </a:r>
            <a:r>
              <a:rPr lang="it-IT" dirty="0"/>
              <a:t> to </a:t>
            </a:r>
            <a:r>
              <a:rPr lang="it-IT" dirty="0" err="1"/>
              <a:t>municipalities</a:t>
            </a:r>
            <a:r>
              <a:rPr lang="it-IT" dirty="0"/>
              <a:t> with low </a:t>
            </a:r>
            <a:r>
              <a:rPr lang="it-IT" dirty="0" err="1"/>
              <a:t>accident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178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3A87AC-72DD-AB85-3D71-1C0BB119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99E0F3-B65C-7B0A-FE3C-6F9A0B47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115037-FE16-0786-2135-A32BD998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C28F30A-B617-58D2-D3B6-54C06570FFDD}"/>
              </a:ext>
            </a:extLst>
          </p:cNvPr>
          <p:cNvSpPr/>
          <p:nvPr/>
        </p:nvSpPr>
        <p:spPr>
          <a:xfrm>
            <a:off x="1097280" y="2108201"/>
            <a:ext cx="3041780" cy="1148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K-Means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10226A1-8A59-FD7F-8E1C-E258666DD9B5}"/>
              </a:ext>
            </a:extLst>
          </p:cNvPr>
          <p:cNvSpPr/>
          <p:nvPr/>
        </p:nvSpPr>
        <p:spPr>
          <a:xfrm>
            <a:off x="4687078" y="3405414"/>
            <a:ext cx="3041780" cy="1148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3 Clusters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D3F44DE-91AD-0B12-7C53-5E97F93F75F4}"/>
              </a:ext>
            </a:extLst>
          </p:cNvPr>
          <p:cNvSpPr/>
          <p:nvPr/>
        </p:nvSpPr>
        <p:spPr>
          <a:xfrm>
            <a:off x="8113900" y="4720909"/>
            <a:ext cx="3041780" cy="1148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Municipalities</a:t>
            </a:r>
            <a:r>
              <a:rPr lang="it-IT" dirty="0"/>
              <a:t> </a:t>
            </a:r>
            <a:r>
              <a:rPr lang="it-IT" dirty="0" err="1"/>
              <a:t>grouped</a:t>
            </a:r>
            <a:r>
              <a:rPr lang="it-IT" dirty="0"/>
              <a:t> </a:t>
            </a:r>
            <a:r>
              <a:rPr lang="it-IT" dirty="0" err="1"/>
              <a:t>according</a:t>
            </a:r>
            <a:r>
              <a:rPr lang="it-IT" dirty="0"/>
              <a:t> to </a:t>
            </a:r>
            <a:r>
              <a:rPr lang="it-IT" dirty="0" err="1"/>
              <a:t>accident</a:t>
            </a:r>
            <a:r>
              <a:rPr lang="it-IT" dirty="0"/>
              <a:t> </a:t>
            </a:r>
            <a:r>
              <a:rPr lang="it-IT" dirty="0" err="1"/>
              <a:t>concentration</a:t>
            </a:r>
            <a:endParaRPr lang="it-IT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8E33859-6391-46C1-10F6-25AE565ECFD1}"/>
              </a:ext>
            </a:extLst>
          </p:cNvPr>
          <p:cNvCxnSpPr/>
          <p:nvPr/>
        </p:nvCxnSpPr>
        <p:spPr>
          <a:xfrm>
            <a:off x="4139060" y="3256384"/>
            <a:ext cx="548018" cy="17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0DC9E6E-6E0B-FCB3-466A-E2583270F07A}"/>
              </a:ext>
            </a:extLst>
          </p:cNvPr>
          <p:cNvCxnSpPr>
            <a:cxnSpLocks/>
          </p:cNvCxnSpPr>
          <p:nvPr/>
        </p:nvCxnSpPr>
        <p:spPr>
          <a:xfrm>
            <a:off x="7670408" y="4553597"/>
            <a:ext cx="443492" cy="149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8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4D7E88-60CD-B44F-294D-F185D3C3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36E1A3-AF21-CC4E-E875-7468E741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The </a:t>
            </a:r>
            <a:r>
              <a:rPr lang="it-IT" sz="1800" dirty="0" err="1"/>
              <a:t>number</a:t>
            </a:r>
            <a:r>
              <a:rPr lang="it-IT" sz="1800" dirty="0"/>
              <a:t> of road </a:t>
            </a:r>
            <a:r>
              <a:rPr lang="it-IT" sz="1800" dirty="0" err="1"/>
              <a:t>accidents</a:t>
            </a:r>
            <a:r>
              <a:rPr lang="it-IT" sz="1800" dirty="0"/>
              <a:t> </a:t>
            </a:r>
            <a:r>
              <a:rPr lang="it-IT" sz="1800" dirty="0" err="1"/>
              <a:t>generally</a:t>
            </a:r>
            <a:r>
              <a:rPr lang="it-IT" sz="1800" dirty="0"/>
              <a:t> </a:t>
            </a:r>
            <a:r>
              <a:rPr lang="it-IT" sz="1800" dirty="0" err="1"/>
              <a:t>decreased</a:t>
            </a:r>
            <a:r>
              <a:rPr lang="it-IT" sz="1800" dirty="0"/>
              <a:t> </a:t>
            </a:r>
            <a:r>
              <a:rPr lang="it-IT" sz="1800" dirty="0" err="1"/>
              <a:t>between</a:t>
            </a:r>
            <a:r>
              <a:rPr lang="it-IT" sz="1800" dirty="0"/>
              <a:t> 2001 and 2024, </a:t>
            </a:r>
            <a:r>
              <a:rPr lang="it-IT" sz="1800" dirty="0" err="1"/>
              <a:t>although</a:t>
            </a:r>
            <a:r>
              <a:rPr lang="it-IT" sz="1800" dirty="0"/>
              <a:t> some </a:t>
            </a:r>
            <a:r>
              <a:rPr lang="it-IT" sz="1800" dirty="0" err="1"/>
              <a:t>fluctuations</a:t>
            </a:r>
            <a:r>
              <a:rPr lang="it-IT" sz="1800" dirty="0"/>
              <a:t> are </a:t>
            </a:r>
            <a:r>
              <a:rPr lang="it-IT" sz="1800" dirty="0" err="1"/>
              <a:t>visible</a:t>
            </a:r>
            <a:r>
              <a:rPr lang="it-IT" sz="1800" dirty="0"/>
              <a:t> in the </a:t>
            </a:r>
            <a:r>
              <a:rPr lang="it-IT" sz="1800" dirty="0" err="1"/>
              <a:t>most</a:t>
            </a:r>
            <a:r>
              <a:rPr lang="it-IT" sz="1800" dirty="0"/>
              <a:t> </a:t>
            </a:r>
            <a:r>
              <a:rPr lang="it-IT" sz="1800" dirty="0" err="1"/>
              <a:t>recent</a:t>
            </a:r>
            <a:r>
              <a:rPr lang="it-IT" sz="1800" dirty="0"/>
              <a:t> </a:t>
            </a:r>
            <a:r>
              <a:rPr lang="it-IT" sz="1800" dirty="0" err="1"/>
              <a:t>years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</a:t>
            </a:r>
            <a:r>
              <a:rPr lang="it-IT" sz="1800" dirty="0" err="1"/>
              <a:t>Population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 </a:t>
            </a:r>
            <a:r>
              <a:rPr lang="it-IT" sz="1800" dirty="0" err="1"/>
              <a:t>appears</a:t>
            </a:r>
            <a:r>
              <a:rPr lang="it-IT" sz="1800" dirty="0"/>
              <a:t> to be </a:t>
            </a:r>
            <a:r>
              <a:rPr lang="it-IT" sz="1800" dirty="0" err="1"/>
              <a:t>positively</a:t>
            </a:r>
            <a:r>
              <a:rPr lang="it-IT" sz="1800" dirty="0"/>
              <a:t> </a:t>
            </a:r>
            <a:r>
              <a:rPr lang="it-IT" sz="1800" dirty="0" err="1"/>
              <a:t>associated</a:t>
            </a:r>
            <a:r>
              <a:rPr lang="it-IT" sz="1800" dirty="0"/>
              <a:t> with road </a:t>
            </a:r>
            <a:r>
              <a:rPr lang="it-IT" sz="1800" dirty="0" err="1"/>
              <a:t>accidents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, </a:t>
            </a:r>
            <a:r>
              <a:rPr lang="it-IT" sz="1800" dirty="0" err="1"/>
              <a:t>suggesting</a:t>
            </a:r>
            <a:r>
              <a:rPr lang="it-IT" sz="1800" dirty="0"/>
              <a:t> </a:t>
            </a:r>
            <a:r>
              <a:rPr lang="it-IT" sz="1800" dirty="0" err="1"/>
              <a:t>that</a:t>
            </a:r>
            <a:r>
              <a:rPr lang="it-IT" sz="1800" dirty="0"/>
              <a:t> more </a:t>
            </a:r>
            <a:r>
              <a:rPr lang="it-IT" sz="1800" dirty="0" err="1"/>
              <a:t>densily</a:t>
            </a:r>
            <a:r>
              <a:rPr lang="it-IT" sz="1800" dirty="0"/>
              <a:t> </a:t>
            </a:r>
            <a:r>
              <a:rPr lang="it-IT" sz="1800" dirty="0" err="1"/>
              <a:t>populated</a:t>
            </a:r>
            <a:r>
              <a:rPr lang="it-IT" sz="1800" dirty="0"/>
              <a:t> </a:t>
            </a:r>
            <a:r>
              <a:rPr lang="it-IT" sz="1800" dirty="0" err="1"/>
              <a:t>municipalities</a:t>
            </a:r>
            <a:r>
              <a:rPr lang="it-IT" sz="1800" dirty="0"/>
              <a:t> </a:t>
            </a:r>
            <a:r>
              <a:rPr lang="it-IT" sz="1800" dirty="0" err="1"/>
              <a:t>tend</a:t>
            </a:r>
            <a:r>
              <a:rPr lang="it-IT" sz="1800" dirty="0"/>
              <a:t> to </a:t>
            </a:r>
            <a:r>
              <a:rPr lang="it-IT" sz="1800" dirty="0" err="1"/>
              <a:t>experience</a:t>
            </a:r>
            <a:r>
              <a:rPr lang="it-IT" sz="1800" dirty="0"/>
              <a:t> a </a:t>
            </a:r>
            <a:r>
              <a:rPr lang="it-IT" sz="1800" dirty="0" err="1"/>
              <a:t>higher</a:t>
            </a:r>
            <a:r>
              <a:rPr lang="it-IT" sz="1800" dirty="0"/>
              <a:t> </a:t>
            </a:r>
            <a:r>
              <a:rPr lang="it-IT" sz="1800" dirty="0" err="1"/>
              <a:t>concentration</a:t>
            </a:r>
            <a:r>
              <a:rPr lang="it-IT" sz="1800" dirty="0"/>
              <a:t> of road </a:t>
            </a:r>
            <a:r>
              <a:rPr lang="it-IT" sz="1800" dirty="0" err="1"/>
              <a:t>accidents</a:t>
            </a:r>
            <a:r>
              <a:rPr lang="it-IT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 The </a:t>
            </a:r>
            <a:r>
              <a:rPr lang="it-IT" sz="1800" dirty="0" err="1"/>
              <a:t>hypothesis</a:t>
            </a:r>
            <a:r>
              <a:rPr lang="it-IT" sz="1800" dirty="0"/>
              <a:t> test </a:t>
            </a:r>
            <a:r>
              <a:rPr lang="it-IT" sz="1800" dirty="0" err="1"/>
              <a:t>observed</a:t>
            </a:r>
            <a:r>
              <a:rPr lang="it-IT" sz="1800" dirty="0"/>
              <a:t> </a:t>
            </a:r>
            <a:r>
              <a:rPr lang="it-IT" sz="1800" dirty="0" err="1"/>
              <a:t>that</a:t>
            </a:r>
            <a:r>
              <a:rPr lang="it-IT" sz="1800" dirty="0"/>
              <a:t> the </a:t>
            </a:r>
            <a:r>
              <a:rPr lang="it-IT" sz="1800" dirty="0" err="1"/>
              <a:t>difference</a:t>
            </a:r>
            <a:r>
              <a:rPr lang="it-IT" sz="1800" dirty="0"/>
              <a:t> </a:t>
            </a:r>
            <a:r>
              <a:rPr lang="it-IT" sz="1800" dirty="0" err="1"/>
              <a:t>between</a:t>
            </a:r>
            <a:r>
              <a:rPr lang="it-IT" sz="1800" dirty="0"/>
              <a:t> </a:t>
            </a:r>
            <a:r>
              <a:rPr lang="it-IT" sz="1800" dirty="0" err="1"/>
              <a:t>municipalities</a:t>
            </a:r>
            <a:r>
              <a:rPr lang="it-IT" sz="1800" dirty="0"/>
              <a:t> with </a:t>
            </a:r>
            <a:r>
              <a:rPr lang="it-IT" sz="1800" dirty="0" err="1"/>
              <a:t>different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 </a:t>
            </a:r>
            <a:r>
              <a:rPr lang="it-IT" sz="1800" dirty="0" err="1"/>
              <a:t>levels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</a:t>
            </a:r>
            <a:r>
              <a:rPr lang="it-IT" sz="1800" dirty="0" err="1"/>
              <a:t>statistically</a:t>
            </a:r>
            <a:r>
              <a:rPr lang="it-IT" sz="1800" dirty="0"/>
              <a:t> </a:t>
            </a:r>
            <a:r>
              <a:rPr lang="it-IT" sz="1800" dirty="0" err="1"/>
              <a:t>significant</a:t>
            </a:r>
            <a:endParaRPr lang="it-IT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/>
              <a:t>K-Means clustering </a:t>
            </a:r>
            <a:r>
              <a:rPr lang="it-IT" sz="1800" dirty="0" err="1"/>
              <a:t>identified</a:t>
            </a:r>
            <a:r>
              <a:rPr lang="it-IT" sz="1800" dirty="0"/>
              <a:t> </a:t>
            </a:r>
            <a:r>
              <a:rPr lang="it-IT" sz="1800" dirty="0" err="1"/>
              <a:t>distinct</a:t>
            </a:r>
            <a:r>
              <a:rPr lang="it-IT" sz="1800" dirty="0"/>
              <a:t> group of </a:t>
            </a:r>
            <a:r>
              <a:rPr lang="it-IT" sz="1800" dirty="0" err="1"/>
              <a:t>municipalities</a:t>
            </a:r>
            <a:r>
              <a:rPr lang="it-IT" sz="1800" dirty="0"/>
              <a:t> </a:t>
            </a:r>
            <a:r>
              <a:rPr lang="it-IT" sz="1800" dirty="0" err="1"/>
              <a:t>based</a:t>
            </a:r>
            <a:r>
              <a:rPr lang="it-IT" sz="1800" dirty="0"/>
              <a:t> on </a:t>
            </a:r>
            <a:r>
              <a:rPr lang="it-IT" sz="1800" dirty="0" err="1"/>
              <a:t>population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 and road </a:t>
            </a:r>
            <a:r>
              <a:rPr lang="it-IT" sz="1800" dirty="0" err="1"/>
              <a:t>accident</a:t>
            </a:r>
            <a:r>
              <a:rPr lang="it-IT" sz="1800" dirty="0"/>
              <a:t> </a:t>
            </a:r>
            <a:r>
              <a:rPr lang="it-IT" sz="1800" dirty="0" err="1"/>
              <a:t>density</a:t>
            </a:r>
            <a:r>
              <a:rPr lang="it-IT" sz="1800" dirty="0"/>
              <a:t>, </a:t>
            </a:r>
            <a:r>
              <a:rPr lang="it-IT" sz="1800" dirty="0" err="1"/>
              <a:t>highlighting</a:t>
            </a:r>
            <a:r>
              <a:rPr lang="it-IT" sz="1800" dirty="0"/>
              <a:t> </a:t>
            </a:r>
            <a:r>
              <a:rPr lang="it-IT" sz="1800" dirty="0" err="1"/>
              <a:t>different</a:t>
            </a:r>
            <a:r>
              <a:rPr lang="it-IT" sz="1800" dirty="0"/>
              <a:t> </a:t>
            </a:r>
            <a:r>
              <a:rPr lang="it-IT" sz="1800" dirty="0" err="1"/>
              <a:t>territorial</a:t>
            </a:r>
            <a:r>
              <a:rPr lang="it-IT" sz="1800" dirty="0"/>
              <a:t> </a:t>
            </a:r>
            <a:r>
              <a:rPr lang="it-IT" sz="1800" dirty="0" err="1"/>
              <a:t>profiles</a:t>
            </a:r>
            <a:r>
              <a:rPr lang="it-IT" sz="1800"/>
              <a:t>.</a:t>
            </a:r>
            <a:endParaRPr lang="it-IT" sz="1800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B620FF-3E14-4A37-2DEA-52516FA5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05/07/2026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46400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6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{119897ED-C44E-4CEF-8DCC-95856CE13D10}TFf0a5ceae-4542-492d-822e-d65a94fb0e1edb9c82a9_win32-70532fc57a92</Template>
  <TotalTime>30</TotalTime>
  <Words>291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Franklin Gothic Book</vt:lpstr>
      <vt:lpstr>Personalizzata</vt:lpstr>
      <vt:lpstr>Road Accidents Across Italian Municipalities (2001-2024)</vt:lpstr>
      <vt:lpstr>Business Problem</vt:lpstr>
      <vt:lpstr>Data preparation</vt:lpstr>
      <vt:lpstr>EXPLORATORY DATA ANALYSIS</vt:lpstr>
      <vt:lpstr>HYPOTHESIS TEST</vt:lpstr>
      <vt:lpstr>CLUSTERING</vt:lpstr>
      <vt:lpstr>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Spano</dc:creator>
  <cp:lastModifiedBy>Domenico Spano</cp:lastModifiedBy>
  <cp:revision>2</cp:revision>
  <dcterms:created xsi:type="dcterms:W3CDTF">2026-07-04T11:01:17Z</dcterms:created>
  <dcterms:modified xsi:type="dcterms:W3CDTF">2026-07-05T16:00:04Z</dcterms:modified>
</cp:coreProperties>
</file>